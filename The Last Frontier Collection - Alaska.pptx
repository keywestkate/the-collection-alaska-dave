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188a1309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188a1309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188a1309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188a1309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e4bd41e0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e4bd41e0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e4bd41e0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e4bd41e0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9188a1309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9188a1309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9188a1309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9188a1309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a61382ff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a61382ff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e4bd41e0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e4bd41e0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9" Type="http://schemas.openxmlformats.org/officeDocument/2006/relationships/image" Target="../media/image2.jpg"/><Relationship Id="rId5" Type="http://schemas.openxmlformats.org/officeDocument/2006/relationships/image" Target="../media/image6.gif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ull_cooper-landing-fishing-guide-scenic-115017145567369.jpg"/>
          <p:cNvPicPr preferRelativeResize="0"/>
          <p:nvPr/>
        </p:nvPicPr>
        <p:blipFill rotWithShape="1">
          <a:blip r:embed="rId3">
            <a:alphaModFix amt="44000"/>
          </a:blip>
          <a:srcRect b="1250" l="0" r="0" t="-1250"/>
          <a:stretch/>
        </p:blipFill>
        <p:spPr>
          <a:xfrm>
            <a:off x="411475" y="492975"/>
            <a:ext cx="8321040" cy="4332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Cooper Landing Logo 3 Light Bl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825" y="1956375"/>
            <a:ext cx="1313499" cy="2215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AHL Logo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1402" y="2323785"/>
            <a:ext cx="2581200" cy="8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13400" y="809525"/>
            <a:ext cx="7717200" cy="631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1"/>
                </a:solidFill>
              </a:rPr>
              <a:t>THE LAST FRONTIER COLLECTION CLUB</a:t>
            </a:r>
            <a:endParaRPr b="1" i="1" sz="2000">
              <a:solidFill>
                <a:schemeClr val="dk1"/>
              </a:solidFill>
            </a:endParaRPr>
          </a:p>
        </p:txBody>
      </p:sp>
      <p:pic>
        <p:nvPicPr>
          <p:cNvPr id="58" name="Google Shape;58;p13" title="Moose &amp; Spruc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2025" y="2200213"/>
            <a:ext cx="1761200" cy="172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ChatGPT Image Mar 26, 2026 at 11_41_46 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0825" y="3151089"/>
            <a:ext cx="1761201" cy="176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Foraker Flats Transpar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85225" y="2829812"/>
            <a:ext cx="2403773" cy="240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ast+Frontier+Logo+1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16575" y="1561988"/>
            <a:ext cx="4110874" cy="5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 title="Screenshot 2025-11-24 at 7.59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63" y="1066250"/>
            <a:ext cx="8436076" cy="2067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7" name="Google Shape;67;p14" title="Screenshot 2025-11-24 at 7.58.1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75" y="3238400"/>
            <a:ext cx="4297099" cy="1644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FF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/>
              <a:t>MARKET OPPORTUNITY - THE KENAI: ALASKA’S PLAYGROUND</a:t>
            </a:r>
            <a:endParaRPr b="1" sz="2020"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13" y="1017725"/>
            <a:ext cx="8520600" cy="3809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30-35% of Total Alaska Visitors will visit Kenai Peninsula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923,760 - 1,077,720 Kenai Peninsula Visitors Annually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 MAJOR CRUISE TERMINALS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 HOUR DRIVE FROM INTERNATIONAL AIRPORT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00" y="168175"/>
            <a:ext cx="8546002" cy="48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FF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OUR TEAM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 title="Mile 82 enterprises.jpeg"/>
          <p:cNvPicPr preferRelativeResize="0"/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308074"/>
            <a:ext cx="9144003" cy="452735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FF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THE ECOSYSTEM</a:t>
            </a:r>
            <a:endParaRPr b="1" sz="252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VERTICALLY INTEGRATED TOP OF THE FUNNEL MODEL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4,500-5,000 Annual Fishing Clients (Top of Funnel)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Funnel into our properties &amp; experiences</a:t>
            </a:r>
            <a:br>
              <a:rPr lang="en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1,000 Clients (AirBnb, VRBO - Lodging Clients)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Funnel into other lodging &amp; experiences we own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CAPTURE THE TRAVEL ROUTE OF OUR CLIENT POOL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 title="Mile 82 enterprises.jpeg"/>
          <p:cNvPicPr preferRelativeResize="0"/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308074"/>
            <a:ext cx="9144003" cy="452735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FF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INVESTMENT OPPORTUNITY</a:t>
            </a:r>
            <a:endParaRPr b="1" sz="2520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CLUB PROFILE &amp; CRITERIA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title="Mile 82 enterprises.jpeg"/>
          <p:cNvPicPr preferRelativeResize="0"/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308074"/>
            <a:ext cx="9144003" cy="452735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FF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WHAT PROBLEM AM I SOLVING?</a:t>
            </a:r>
            <a:endParaRPr b="1" sz="2520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Fragmented Booking Atmosphere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Archaic Websites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Lodge &amp; Excursion Business Owners Not Answering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Daunting Itineraries (Lots of Driving, etc.)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 title="Mile 82 enterprises.jpeg"/>
          <p:cNvPicPr preferRelativeResize="0"/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308074"/>
            <a:ext cx="9144003" cy="452735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FF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TRACTION: PROOF OF CONCEPT</a:t>
            </a:r>
            <a:endParaRPr b="1"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Years in Operation (2026)</a:t>
            </a:r>
            <a:endParaRPr b="1" u="sng">
              <a:solidFill>
                <a:schemeClr val="dk1"/>
              </a:solidFill>
            </a:endParaRPr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10th Year for Cooper Landing Fishing </a:t>
            </a:r>
            <a:r>
              <a:rPr b="1" lang="en">
                <a:solidFill>
                  <a:schemeClr val="dk1"/>
                </a:solidFill>
              </a:rPr>
              <a:t>Guide</a:t>
            </a:r>
            <a:r>
              <a:rPr b="1" lang="en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4th Year for Lodge Properties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NOI 2024: $971,072 ($250,000 Profit)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NOI 2025: $1,050,000 ($300,000 Profit)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PROJECTED TOTAL NOI 2026 (w/no changes to structure): $1,200,000 ($360,000 Profit)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PROJECTED PHASE 1 NOI 2026 $470,000 (30% Profit/28% COC) &amp; $104,000 Debt Savings (Asset Value $4,375,000)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PROJECTED PHASE 2 NOI 2026 (w/lodging/fishing </a:t>
            </a:r>
            <a:r>
              <a:rPr b="1" lang="en">
                <a:solidFill>
                  <a:schemeClr val="dk1"/>
                </a:solidFill>
              </a:rPr>
              <a:t>acquisitions</a:t>
            </a:r>
            <a:r>
              <a:rPr b="1" lang="en">
                <a:solidFill>
                  <a:schemeClr val="dk1"/>
                </a:solidFill>
              </a:rPr>
              <a:t>): $7,500,000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Total Website Stats (not including 3rd party marketing)</a:t>
            </a:r>
            <a:endParaRPr b="1" u="sng">
              <a:solidFill>
                <a:schemeClr val="dk1"/>
              </a:solidFill>
            </a:endParaRPr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AHL (Lodging) - 2025 YTD 22,482 (32% increase from 2024)</a:t>
            </a:r>
            <a:endParaRPr b="1">
              <a:solidFill>
                <a:schemeClr val="dk1"/>
              </a:solidFill>
            </a:endParaRPr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CLFG (Fishing) - 2025 YTD 92,000 (Steady Traffic Year over Year - 2024: 102,000 Visitors)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Mile 82 enterprises.jpeg"/>
          <p:cNvPicPr preferRelativeResize="0"/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308074"/>
            <a:ext cx="9144003" cy="452735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FF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20"/>
              <a:t>THE ASK</a:t>
            </a:r>
            <a:endParaRPr b="1" sz="3620"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PHASE 1 Raise $1.63m - ($500k Minimum)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" sz="1700">
                <a:solidFill>
                  <a:schemeClr val="dk1"/>
                </a:solidFill>
              </a:rPr>
              <a:t>$200k Purchase Jellyfish Ave Property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" sz="1700">
                <a:solidFill>
                  <a:schemeClr val="dk1"/>
                </a:solidFill>
              </a:rPr>
              <a:t>$180k Debt Conversion - Brenda Way Property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" sz="1700">
                <a:solidFill>
                  <a:schemeClr val="dk1"/>
                </a:solidFill>
              </a:rPr>
              <a:t>$300k Debt Conversion - Blakley Ct. Property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" sz="1700">
                <a:solidFill>
                  <a:schemeClr val="dk1"/>
                </a:solidFill>
              </a:rPr>
              <a:t>$150k Executive/Admin Hire Cushion, Holding </a:t>
            </a:r>
            <a:br>
              <a:rPr b="1" lang="en" sz="1700">
                <a:solidFill>
                  <a:schemeClr val="dk1"/>
                </a:solidFill>
              </a:rPr>
            </a:br>
            <a:r>
              <a:rPr b="1" lang="en" sz="1700">
                <a:solidFill>
                  <a:schemeClr val="dk1"/>
                </a:solidFill>
              </a:rPr>
              <a:t>Costs, TC Fees, Capatalize LLC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" sz="1700">
                <a:solidFill>
                  <a:schemeClr val="dk1"/>
                </a:solidFill>
              </a:rPr>
              <a:t>$800k Refi Interest-Only Debt - Blakley Ct.</a:t>
            </a:r>
            <a:br>
              <a:rPr b="1" lang="en" sz="1700">
                <a:solidFill>
                  <a:schemeClr val="dk1"/>
                </a:solidFill>
              </a:rPr>
            </a:br>
            <a:r>
              <a:rPr b="1" lang="en" sz="1700">
                <a:solidFill>
                  <a:schemeClr val="dk1"/>
                </a:solidFill>
              </a:rPr>
              <a:t>(Convert 1m of Debt to 1st Position Security)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11" name="Google Shape;111;p20" title="my-website-qr-code-2048px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8500" y="1630275"/>
            <a:ext cx="2460800" cy="24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Mile 82 enterprises.jpeg"/>
          <p:cNvPicPr preferRelativeResize="0"/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308074"/>
            <a:ext cx="9144003" cy="452735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FF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20"/>
              <a:t>LAST FRONTIER COLLECTION CLUB</a:t>
            </a:r>
            <a:endParaRPr b="1" sz="3620"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TIMELINE - 2 YEARS (Aquisitions, Debt Conversion &amp; Executive Hires)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MINIMUM INVESTMENT - $25,000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MINIMUM RAISE - $500,000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TARGETED RAISE - $1,630,000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EQUITY - 20%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ANNUALIZED RETURN - 7%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19" name="Google Shape;119;p21" title="my-website-qr-code-2048px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8500" y="1630275"/>
            <a:ext cx="2460800" cy="24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