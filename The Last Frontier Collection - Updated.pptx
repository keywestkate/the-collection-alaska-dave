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14600"/>
            <a:ext cx="8321040" cy="3200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5720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FRONTIER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CLUB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Alaska's Premier Vertically Integrated Tourism &amp; Lodging Investment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920240" cy="868680"/>
          </a:xfrm>
          <a:prstGeom prst="rect">
            <a:avLst/>
          </a:prstGeom>
          <a:solidFill>
            <a:srgbClr val="0E7490">
              <a:alpha val="3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$7.5M+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NOI Target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606040"/>
            <a:ext cx="1920240" cy="868680"/>
          </a:xfrm>
          <a:prstGeom prst="rect">
            <a:avLst/>
          </a:prstGeom>
          <a:solidFill>
            <a:srgbClr val="0E7490">
              <a:alpha val="3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3108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606040"/>
            <a:ext cx="1920240" cy="868680"/>
          </a:xfrm>
          <a:prstGeom prst="rect">
            <a:avLst/>
          </a:prstGeom>
          <a:solidFill>
            <a:srgbClr val="0E7490">
              <a:alpha val="3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Return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606040"/>
            <a:ext cx="1920240" cy="868680"/>
          </a:xfrm>
          <a:prstGeom prst="rect">
            <a:avLst/>
          </a:prstGeom>
          <a:solidFill>
            <a:srgbClr val="0E7490">
              <a:alpha val="3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3108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Investment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611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PORTFOLIO PROPERTIES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3877056"/>
            <a:ext cx="15910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2" name="Image 0" descr="logo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3986784"/>
            <a:ext cx="347472" cy="58521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221992" y="3877056"/>
            <a:ext cx="15910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1" descr="logo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3982212"/>
            <a:ext cx="594360" cy="59436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895344" y="3877056"/>
            <a:ext cx="15910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2" descr="logos/imag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4133088"/>
            <a:ext cx="914400" cy="29260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568696" y="3877056"/>
            <a:ext cx="15910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3" descr="logos/imag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44" y="3982212"/>
            <a:ext cx="594360" cy="59436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242048" y="3877056"/>
            <a:ext cx="15910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0" name="Image 4" descr="logos/image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396" y="3982212"/>
            <a:ext cx="594360" cy="5943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94360" y="4901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 Peninsula, Alaska   |  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The Last Frontier Collection solve?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0972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4416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3441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Booking Experience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 visitors must navigate dozens of separate booking platforms for lodging, fishing guides, excursions, and transportation — leading to friction and drop-off.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10972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34416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21808" y="13441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Archaic &amp; Outdated Websites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71907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Kenai Peninsula operators rely on outdated web infrastructure, missing mobile bookings and failing to convert high-intent traffic.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80360"/>
            <a:ext cx="10972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9008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99008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Not Responding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36499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 and excursion business owners frequently miss inquiries due to poor systems — guests book elsewhere or abandon plans entirely.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80360"/>
            <a:ext cx="10972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99008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299008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Daunting, Confusing Itineraries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36499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face complex logistics — long drives, unclear routing, and no single source of curated, end-to-end trip planning for the Kenai.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Kenai: Alaska's Playground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2004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Alaska Visitors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32004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Kenai Peninsula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703320"/>
            <a:ext cx="32004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" y="4343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 Visitors Annually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14300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 Peninsula Market Access Points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1783080"/>
            <a:ext cx="47548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41648" y="1929384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81965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Cruise Ship Terminals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181965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2276856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41648" y="2423160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313432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from Int'l Airport (ANC)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31343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31920" y="2770632"/>
            <a:ext cx="47548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1648" y="2916936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280720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Fishing Clients (Top Funnel)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80720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4,500-5,000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31920" y="3264408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41648" y="3410712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3300984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Lodging Clients (AirBnb/VRBO)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330098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31920" y="3758184"/>
            <a:ext cx="47548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41648" y="3904488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379476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CLFG Website Traffic (2025 YTD)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379476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92,000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931920" y="4251960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41648" y="4398264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51960" y="428853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 Lodging Traffic Growth (2025 YTD)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42885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 Integrated Top-of-Funnel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77724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978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5389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4,500–5,000 Annual Fishing Clients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3677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 Landing Fishing Guide brings high-intent, high-spend Alaska travelers into our ecosystem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2039112"/>
            <a:ext cx="6400800" cy="749808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09397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LODGING CAPTURE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35000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Annual Lodging Clients (AirBnb / VRBO)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53288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clients funnel directly into our Kenai lodge &amp; cabin properties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2935224"/>
            <a:ext cx="5029200" cy="749808"/>
          </a:xfrm>
          <a:prstGeom prst="rect">
            <a:avLst/>
          </a:prstGeom>
          <a:solidFill>
            <a:srgbClr val="0A4A5E"/>
          </a:solidFill>
          <a:ln w="12700">
            <a:solidFill>
              <a:srgbClr val="0A4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990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32461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Activities, Dining &amp; Curated Itineraries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34290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are offered guided experiences, charter tours, and excursion packages via our portfolio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3831336"/>
            <a:ext cx="36576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142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Additional Lodging &amp; Fishing Assets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43251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funnel enables targeted M&amp;A of underperforming Kenai properties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FULL TRAVEL ROUTE OF OUR CLIENT POOL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Kenai River Services, LLC</a:t>
            </a:r>
            <a:endParaRPr lang="en-US" sz="1300" dirty="0"/>
          </a:p>
        </p:txBody>
      </p:sp>
      <p:pic>
        <p:nvPicPr>
          <p:cNvPr id="5" name="Image 0" descr="logos/team_org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97280"/>
            <a:ext cx="8778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Real Numbers, Real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417320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ACTUAL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17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$971K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Profit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ACTUAL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517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$1.05M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 Profit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PROJECTED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Changes)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517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$360K Profit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4114800" cy="2194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2026 PROJECTION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NOI: $470,000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484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Profit / 28% Cash-on-Cash Return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050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$104,000 Debt Savings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453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Value: $4,375,000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4114800" cy="2194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GROWTH PROJECTION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Target: $7,500,000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6484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Lodging &amp; Fishing Acquisitions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050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Kenai Peninsula Footprint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453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Ecosystem Realized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Traction: AHL Lodging — 22,482 visitors (2025 YTD, +32%)  ·  CLFG Fishing — 92,000 visitors (2025 YTD)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Profile &amp; Criteria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20624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46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+ Operating Business (Tourism/Lodging)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691640"/>
            <a:ext cx="420624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691640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746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020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 Peninsula, Alaska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20624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06040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60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Asset Value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935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$4,375,000 (Phase 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420624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606040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60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935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 Integrated: Fishing + Lodging + Experiences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20624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20440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75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Profile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849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investors seeking cash-flowing Alaska real estate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420624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520440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575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849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Investment Horizon (Acquisitions, Debt Conversion &amp; Executive Hires)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Capital Allocation — $1,630,000 Target Raise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 Interest-Only Debt (Blakley Ct.)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81912"/>
            <a:ext cx="4572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81912"/>
            <a:ext cx="224028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$800,000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of raise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Conversion — Blakley 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4572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67712"/>
            <a:ext cx="822960" cy="228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raise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Conversion — Brenda Way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53512"/>
            <a:ext cx="4572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53512"/>
            <a:ext cx="502920" cy="228600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raise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Jellyfish Ave Property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4572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54864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raise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Executive/Admin Hire &amp; Holding Costs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325112"/>
            <a:ext cx="4572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325112"/>
            <a:ext cx="411480" cy="2286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of raise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 TARGET:   $1,630,000   ·   Minimum Raise: $500,000   ·   Minimum Investment: $25,000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Raising $1,630,000 ($500K Minimum)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09728" cy="10789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 Interest-Only Debt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856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Blakley Ct. — convert $1M debt to 1st position security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9631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96312"/>
            <a:ext cx="10972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87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2587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Conversion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Blakley Ct. Property — eliminate liability, increase equity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5818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58184"/>
            <a:ext cx="109728" cy="1078992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496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38496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Property Purchase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43799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Jellyfish Ave — strategic acquisition for inventory expansion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109728" cy="1078992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325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6364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Conversion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1856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 Way Property — strengthen balance sheet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49631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96312"/>
            <a:ext cx="109728" cy="10789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587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63640" y="2587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/ Admin Hire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56048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hire + holding costs, TC fees, capitalize LLC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Last Frontier Collection vs. Traditional Alaska Operators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98448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full client journey — from first fishing inquiry to multi-night lodge stay and excursions. No competitor controls this full stack on the Kenai.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109728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298448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21808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Local Presence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of boots-on-the-ground operations in Cooper Landing. Deep relationships with local vendors, guides, and municipal partners.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68880"/>
            <a:ext cx="109728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578608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Top-of-Funnel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2907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92,000+ annual website visitors to CLFG fishing alone. This owned audience is a durable, low-cost acquisition channel unavailable to new entrants.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68880"/>
            <a:ext cx="109728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2578608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21808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Asset-Backed Returns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2907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capital secured by real estate equity. Returns backed by operating business income AND appreciating Kenai property values.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49040"/>
            <a:ext cx="109728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3858768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Market = Opportunity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" y="41879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Alaska small lodge market is highly fragmented with no dominant brand. First-mover advantage for a tech-forward, vertically integrated operator.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49040"/>
            <a:ext cx="109728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3858768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21808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Acquisition Playbook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56048" y="41879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leverages the proven Phase 1 model to acquire underperforming properties using our client base as a ready-made revenue engine.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protect investor capital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97480" y="1143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Risk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161848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 fishing and lodging demand peaks May–September. Mitigated by multi-season programming (winter rentals, off-season group bookings) and lean fixed-cost structure.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755648"/>
            <a:ext cx="9144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755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859536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328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Single-Market Concentration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48716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expands to adjacent Kenai markets. Phase 1 uses diversified revenue streams (fishing + lodging + excursions) across multiple properties.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2624328"/>
            <a:ext cx="9144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624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015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Key-Person Dependency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335584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funds executive/admin hire explicitly to reduce founder dependency. Systems and operations being codified to support scale.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3493008"/>
            <a:ext cx="914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34930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859536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702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Value Decline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97480" y="422452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 Peninsula property values supported by limited supply and increasing Alaska tourism trends. Properties also generate operating income independent of sale value.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63840" y="4361688"/>
            <a:ext cx="914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4361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TERMS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Frontier Collection Club — Phase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Investment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65176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Raise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65176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Raise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$1,630,000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265176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265176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Return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35040" y="2468880"/>
            <a:ext cx="265176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Timeline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8953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Review full operating financials &amp; property portfolio documents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87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Schedule a call with founding team for Q&amp;A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793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Complete investor accreditation verification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714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Execute subscription agreement &amp; wire funds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askkeywestkate@gmail.com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Last Frontier Collection Club</dc:title>
  <dc:subject>PptxGenJS Presentation</dc:subject>
  <dc:creator>PptxGenJS</dc:creator>
  <cp:lastModifiedBy>PptxGenJS</cp:lastModifiedBy>
  <cp:revision>1</cp:revision>
  <dcterms:created xsi:type="dcterms:W3CDTF">2026-04-15T15:08:23Z</dcterms:created>
  <dcterms:modified xsi:type="dcterms:W3CDTF">2026-04-15T15:08:23Z</dcterms:modified>
</cp:coreProperties>
</file>